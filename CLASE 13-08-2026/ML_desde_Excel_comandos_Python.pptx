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30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2303A"/>
                </a:solidFill>
                <a:latin typeface="Calibri"/>
              </a:rPr>
              <a:t>Resultados sobre las 50 filas de test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Resultado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30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0A20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0.82</c:v>
                </c:pt>
                <c:pt idx="1">
                  <c:v>0.6</c:v>
                </c:pt>
                <c:pt idx="2">
                  <c:v>0.545</c:v>
                </c:pt>
                <c:pt idx="3">
                  <c:v>0.571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230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7A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DDE7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7A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centrada en los comandos de Python del script clase_machine_learning.py. Cada bloque explica qué hace la instrucción y por qué es necesaria.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 al grupo: si una celda de gasto está vacía, ¿el cliente gastó cero o no tenemos el dato? Casi siempre es lo segundo.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 de oro: toda transformación que aprende algo de los datos (mediana, mínimo, máximo, categoría más frecuente) se ajusta con train, nunca con el dataset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nuestros datos: recall 0.545, es decir detectamos poco más de la mitad de los que realmente abandonan. Es un buen punto de partida para discutir si el modelo sirve o no para el negocio.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0C3A44"/>
          </a:solidFill>
          <a:ln w="12700">
            <a:solidFill>
              <a:srgbClr val="0C3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98480" y="4206240"/>
            <a:ext cx="3108960" cy="3108960"/>
          </a:xfrm>
          <a:prstGeom prst="ellipse">
            <a:avLst/>
          </a:prstGeom>
          <a:solidFill>
            <a:srgbClr val="0A323B"/>
          </a:solidFill>
          <a:ln w="12700">
            <a:solidFill>
              <a:srgbClr val="0A32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PRÁCTICA · PYTHON + PANDAS + SCIKIT-LEARN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5544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5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desde un Excel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66928" y="34290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 por comando: qué hace cada línea de código y por qué está ahí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6928" y="4434840"/>
            <a:ext cx="3794760" cy="566928"/>
          </a:xfrm>
          <a:prstGeom prst="roundRect">
            <a:avLst>
              <a:gd name="adj" fmla="val 1612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443484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clase_machine_learning.py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5257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filas  ·  13 columnas  ·  1 archivo Excel  ·  1 decisión de negocio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recorrido completo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Ocho bloques de código. Cada uno resuelve un problema distinto.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578608" cy="1783080"/>
          </a:xfrm>
          <a:prstGeom prst="roundRect">
            <a:avLst>
              <a:gd name="adj" fmla="val 2564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6384" y="2560320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86384" y="2916936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pd.read_excel()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64992" y="1783080"/>
            <a:ext cx="2578608" cy="1783080"/>
          </a:xfrm>
          <a:prstGeom prst="roundRect">
            <a:avLst>
              <a:gd name="adj" fmla="val 2564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84448" y="2002536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4448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84448" y="2560320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584448" y="2916936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.head() .isna()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63056" y="1783080"/>
            <a:ext cx="2578608" cy="1783080"/>
          </a:xfrm>
          <a:prstGeom prst="roundRect">
            <a:avLst>
              <a:gd name="adj" fmla="val 2564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82512" y="2002536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82512" y="2560320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Limpiar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382512" y="2916936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.drop_duplicates()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61120" y="1783080"/>
            <a:ext cx="2578608" cy="1783080"/>
          </a:xfrm>
          <a:prstGeom prst="roundRect">
            <a:avLst>
              <a:gd name="adj" fmla="val 2564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80576" y="2002536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0576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80576" y="2560320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Separar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180576" y="2916936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train_test_split()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3931920"/>
            <a:ext cx="2578608" cy="1783080"/>
          </a:xfrm>
          <a:prstGeom prst="roundRect">
            <a:avLst>
              <a:gd name="adj" fmla="val 2564"/>
            </a:avLst>
          </a:prstGeom>
          <a:solidFill>
            <a:srgbClr val="E4EFEF"/>
          </a:solidFill>
          <a:ln w="12700">
            <a:solidFill>
              <a:srgbClr val="E4EF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4151376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86384" y="4709160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Preprocesar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786384" y="5065776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SimpleImputer()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64992" y="3931920"/>
            <a:ext cx="2578608" cy="1783080"/>
          </a:xfrm>
          <a:prstGeom prst="roundRect">
            <a:avLst>
              <a:gd name="adj" fmla="val 2564"/>
            </a:avLst>
          </a:prstGeom>
          <a:solidFill>
            <a:srgbClr val="E4EFEF"/>
          </a:solidFill>
          <a:ln w="12700">
            <a:solidFill>
              <a:srgbClr val="E4EF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84448" y="4151376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84448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584448" y="4709160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Armar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3584448" y="5065776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Pipeline()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63056" y="3931920"/>
            <a:ext cx="2578608" cy="1783080"/>
          </a:xfrm>
          <a:prstGeom prst="roundRect">
            <a:avLst>
              <a:gd name="adj" fmla="val 2564"/>
            </a:avLst>
          </a:prstGeom>
          <a:solidFill>
            <a:srgbClr val="E4EFEF"/>
          </a:solidFill>
          <a:ln w="12700">
            <a:solidFill>
              <a:srgbClr val="E4EF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82512" y="4151376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82512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82512" y="4709160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Entrenar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6382512" y="5065776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.fit()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961120" y="3931920"/>
            <a:ext cx="2578608" cy="1783080"/>
          </a:xfrm>
          <a:prstGeom prst="roundRect">
            <a:avLst>
              <a:gd name="adj" fmla="val 2564"/>
            </a:avLst>
          </a:prstGeom>
          <a:solidFill>
            <a:srgbClr val="E4EFEF"/>
          </a:solidFill>
          <a:ln w="12700">
            <a:solidFill>
              <a:srgbClr val="E4EFE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80576" y="4151376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80576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180576" y="4709160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Decidir</a:t>
            </a:r>
            <a:endParaRPr lang="en-US" sz="1900" dirty="0"/>
          </a:p>
        </p:txBody>
      </p:sp>
      <p:sp>
        <p:nvSpPr>
          <p:cNvPr id="43" name="Text 41"/>
          <p:cNvSpPr/>
          <p:nvPr/>
        </p:nvSpPr>
        <p:spPr>
          <a:xfrm>
            <a:off x="9180576" y="5065776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.predict_proba()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desde un Excel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herramientas que importamos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librerías, tres trabajos completamente distintos.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532120" cy="3337560"/>
          </a:xfrm>
          <a:prstGeom prst="roundRect">
            <a:avLst>
              <a:gd name="adj" fmla="val 1644"/>
            </a:avLst>
          </a:prstGeom>
          <a:solidFill>
            <a:srgbClr val="0B2A32"/>
          </a:solidFill>
          <a:ln w="12700">
            <a:solidFill>
              <a:srgbClr val="0B2A3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47088"/>
            <a:ext cx="100584" cy="1005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847088"/>
            <a:ext cx="100584" cy="100584"/>
          </a:xfrm>
          <a:prstGeom prst="ellipse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847088"/>
            <a:ext cx="100584" cy="1005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75688"/>
            <a:ext cx="5202936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model_selection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linear_model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LogisticRegression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521208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X as Y crea un apodo: en vez de escribir pandas mil veces, escribimos pd.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1691640"/>
            <a:ext cx="5148072" cy="1097280"/>
          </a:xfrm>
          <a:prstGeom prst="roundRect">
            <a:avLst>
              <a:gd name="adj" fmla="val 4167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47688" y="1837944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  ·  pd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47688" y="2148840"/>
            <a:ext cx="4745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el Excel y lo convierte en una tabla manipulable (DataFrame).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46520" y="2971800"/>
            <a:ext cx="5148072" cy="1097280"/>
          </a:xfrm>
          <a:prstGeom prst="roundRect">
            <a:avLst>
              <a:gd name="adj" fmla="val 4167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47688" y="3118104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  ·  np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47688" y="3429000"/>
            <a:ext cx="4745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y valores especiales como np.nan (dato faltante).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46520" y="4251960"/>
            <a:ext cx="5148072" cy="1280160"/>
          </a:xfrm>
          <a:prstGeom prst="roundRect">
            <a:avLst>
              <a:gd name="adj" fmla="val 3571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47688" y="4398264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scikit-learn  ·  sklearn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47688" y="4709160"/>
            <a:ext cx="4745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aprendizaje automático: partir datos, transformar, entrenar y medir.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5669280"/>
            <a:ext cx="5148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sklearn.X import Y  →  traemos solo la pieza que necesitamos, no la librería entera.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de imports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1 · Cargar el Excel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línea convierte la planilla en datos que Python entiende.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675120" cy="2011680"/>
          </a:xfrm>
          <a:prstGeom prst="roundRect">
            <a:avLst>
              <a:gd name="adj" fmla="val 2727"/>
            </a:avLst>
          </a:prstGeom>
          <a:solidFill>
            <a:srgbClr val="0B2A32"/>
          </a:solidFill>
          <a:ln w="12700">
            <a:solidFill>
              <a:srgbClr val="0B2A3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47088"/>
            <a:ext cx="100584" cy="1005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847088"/>
            <a:ext cx="100584" cy="100584"/>
          </a:xfrm>
          <a:prstGeom prst="ellipse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847088"/>
            <a:ext cx="100584" cy="1005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75688"/>
            <a:ext cx="634593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ARCHIVO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"clientes_negocio_machine_learning.xlsx"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read_excel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ARCHIVO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sheet_name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"Datos_clientes"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4069080"/>
            <a:ext cx="3200400" cy="1600200"/>
          </a:xfrm>
          <a:prstGeom prst="roundRect">
            <a:avLst>
              <a:gd name="adj" fmla="val 2857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4215384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pd.read_excel()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8096" y="4526280"/>
            <a:ext cx="27980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 archivo y devuelve un DataFrame: filas = clientes, columnas = variables.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41648" y="4069080"/>
            <a:ext cx="3200400" cy="1600200"/>
          </a:xfrm>
          <a:prstGeom prst="roundRect">
            <a:avLst>
              <a:gd name="adj" fmla="val 2857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42816" y="4215384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sheet_name=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42816" y="4526280"/>
            <a:ext cx="27980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Excel tiene 3 hojas. Sin este parámetro solo leería la primera.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98080" y="1691640"/>
            <a:ext cx="4096512" cy="3977640"/>
          </a:xfrm>
          <a:prstGeom prst="roundRect">
            <a:avLst>
              <a:gd name="adj" fmla="val 1149"/>
            </a:avLst>
          </a:prstGeom>
          <a:solidFill>
            <a:srgbClr val="0C3A44"/>
          </a:solidFill>
          <a:ln w="12700">
            <a:solidFill>
              <a:srgbClr val="0C3A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 DataFrame?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726680" y="242316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tabla en memoria, como el Excel, pero programable.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df['edad']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BF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columna completa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df.loc[5, 'edad']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BF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celda puntual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de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2 · Auditar antes de tocar nada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comandos que le hacen preguntas al archivo.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760720" cy="3611880"/>
          </a:xfrm>
          <a:prstGeom prst="roundRect">
            <a:avLst>
              <a:gd name="adj" fmla="val 1519"/>
            </a:avLst>
          </a:prstGeom>
          <a:solidFill>
            <a:srgbClr val="0B2A32"/>
          </a:solidFill>
          <a:ln w="12700">
            <a:solidFill>
              <a:srgbClr val="0B2A3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47088"/>
            <a:ext cx="100584" cy="1005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847088"/>
            <a:ext cx="100584" cy="100584"/>
          </a:xfrm>
          <a:prstGeom prst="ellipse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847088"/>
            <a:ext cx="100584" cy="1005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75688"/>
            <a:ext cx="5431536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dtypes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isna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duplicated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54864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modifica el DataFrame: solo miran.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17373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.head()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41080" y="173736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las primeras 5 filas. ¿Se cargó lo que esperaba?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254203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.shape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41080" y="2542032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(filas, columnas). Acá: 256 filas, 13 columnas.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3346704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.dtypes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41080" y="3346704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cada columna. ¿La edad quedó como número o como texto?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4151376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.isna().sum()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41080" y="4151376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faltantes por columna. Acá: 9 edades sin dato.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495604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.duplicated().sum()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41080" y="4956048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filas repetidas exactas. Acá: 6.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de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3 · Limpiar sin inventar datos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Corregimos lo que sabemos que está mal; lo desconocido queda como NaN.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6720840" cy="3749040"/>
          </a:xfrm>
          <a:prstGeom prst="roundRect">
            <a:avLst>
              <a:gd name="adj" fmla="val 1463"/>
            </a:avLst>
          </a:prstGeom>
          <a:solidFill>
            <a:srgbClr val="0B2A32"/>
          </a:solidFill>
          <a:ln w="12700">
            <a:solidFill>
              <a:srgbClr val="0B2A3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01368"/>
            <a:ext cx="100584" cy="1005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801368"/>
            <a:ext cx="100584" cy="100584"/>
          </a:xfrm>
          <a:prstGeom prst="ellipse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801368"/>
            <a:ext cx="100584" cy="1005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29968"/>
            <a:ext cx="6391656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drop_duplicates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7FA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WhatsApp / whatsapp / ' WHATSAPP ' son lo mismo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columna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columna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strip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isinstance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7FA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valores imposibles pasan a NaN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"edad"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&lt;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| 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"edad"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&gt;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"edad"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52360" y="1645920"/>
            <a:ext cx="4142232" cy="1188720"/>
          </a:xfrm>
          <a:prstGeom prst="roundRect">
            <a:avLst>
              <a:gd name="adj" fmla="val 3846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53528" y="1792224"/>
            <a:ext cx="3739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.drop_duplicates()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53528" y="2103120"/>
            <a:ext cx="3739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filas repetidas: un cliente contado dos veces pesa el doble.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52360" y="3017520"/>
            <a:ext cx="4142232" cy="1280160"/>
          </a:xfrm>
          <a:prstGeom prst="roundRect">
            <a:avLst>
              <a:gd name="adj" fmla="val 3571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53528" y="3163824"/>
            <a:ext cx="3739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.strip() / .upper()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53528" y="3474720"/>
            <a:ext cx="3739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 espacios y unifica mayúsculas. Si no, el modelo ve dos categorías distintas.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52360" y="4480560"/>
            <a:ext cx="4142232" cy="1143000"/>
          </a:xfrm>
          <a:prstGeom prst="roundRect">
            <a:avLst>
              <a:gd name="adj" fmla="val 4000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53528" y="4626864"/>
            <a:ext cx="3739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df.loc[condición, col]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53528" y="4937760"/>
            <a:ext cx="37398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filas que cumplen una regla y les asigna un valor.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de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2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np.nan no es cero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que más errores causa en proyectos reales.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5349240" cy="2606040"/>
          </a:xfrm>
          <a:prstGeom prst="roundRect">
            <a:avLst>
              <a:gd name="adj" fmla="val 2105"/>
            </a:avLst>
          </a:prstGeom>
          <a:solidFill>
            <a:srgbClr val="0C3A44"/>
          </a:solidFill>
          <a:ln w="12700">
            <a:solidFill>
              <a:srgbClr val="0C3A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1945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0A20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41248" y="3154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cuánto gastó: nada.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35661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información real y el modelo debe aprenderla.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2011680"/>
            <a:ext cx="5349240" cy="2606040"/>
          </a:xfrm>
          <a:prstGeom prst="roundRect">
            <a:avLst>
              <a:gd name="adj" fmla="val 2105"/>
            </a:avLst>
          </a:prstGeom>
          <a:solidFill>
            <a:srgbClr val="0C3A44"/>
          </a:solidFill>
          <a:ln w="12700">
            <a:solidFill>
              <a:srgbClr val="0C3A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1945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np.nan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537960" y="3154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sé cuánto gastó.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37960" y="35661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el dato. Se decidirá después cómo completarlo, con el imputador.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502920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Rellenar un faltante con 0 sin preguntar es inventar información.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4 · Definir X e 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queremos predecir y con qué información lo vamos a predecir.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720840" cy="2057400"/>
          </a:xfrm>
          <a:prstGeom prst="roundRect">
            <a:avLst>
              <a:gd name="adj" fmla="val 2667"/>
            </a:avLst>
          </a:prstGeom>
          <a:solidFill>
            <a:srgbClr val="0B2A32"/>
          </a:solidFill>
          <a:ln w="12700">
            <a:solidFill>
              <a:srgbClr val="0B2A3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47088"/>
            <a:ext cx="100584" cy="1005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847088"/>
            <a:ext cx="100584" cy="100584"/>
          </a:xfrm>
          <a:prstGeom prst="ellipse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847088"/>
            <a:ext cx="100584" cy="1005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75688"/>
            <a:ext cx="639165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"abandono"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"abandono"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"cliente_id"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4114800"/>
            <a:ext cx="3200400" cy="1783080"/>
          </a:xfrm>
          <a:prstGeom prst="roundRect">
            <a:avLst>
              <a:gd name="adj" fmla="val 2564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4261104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 ·  el objetivo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8096" y="4572000"/>
            <a:ext cx="279806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columna que queremos adivinar. Vale 1 (abandonó) o 0 (sigue comprando).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41648" y="4114800"/>
            <a:ext cx="3227832" cy="1783080"/>
          </a:xfrm>
          <a:prstGeom prst="roundRect">
            <a:avLst>
              <a:gd name="adj" fmla="val 2564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42816" y="4261104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 ·  las señales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42816" y="4572000"/>
            <a:ext cx="282549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sabemos del cliente antes de conocer el resultado.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589520" y="1691640"/>
            <a:ext cx="4005072" cy="4206240"/>
          </a:xfrm>
          <a:prstGeom prst="roundRect">
            <a:avLst>
              <a:gd name="adj" fmla="val 1142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19202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sacamos cliente_id?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818120" y="242316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C0231 no es una característica del cliente: es una etiqueta administrativa.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podría memorizar identificadores en vez de aprender patrones, y con un cliente nuevo no serviría de nada.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18120" y="5166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drop(columns=[...]) devuelve una copia sin esas columnas.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 de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5 · train_test_split()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parámetros, cuatro decisiones metodológicas.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623560" cy="2743200"/>
          </a:xfrm>
          <a:prstGeom prst="roundRect">
            <a:avLst>
              <a:gd name="adj" fmla="val 2000"/>
            </a:avLst>
          </a:prstGeom>
          <a:solidFill>
            <a:srgbClr val="0B2A32"/>
          </a:solidFill>
          <a:ln w="12700">
            <a:solidFill>
              <a:srgbClr val="0B2A3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01368"/>
            <a:ext cx="100584" cy="1005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801368"/>
            <a:ext cx="100584" cy="100584"/>
          </a:xfrm>
          <a:prstGeom prst="ellipse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801368"/>
            <a:ext cx="100584" cy="1005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29968"/>
            <a:ext cx="529437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X_test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y_train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y_test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test_size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0.20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stratify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4709160"/>
            <a:ext cx="4434840" cy="566928"/>
          </a:xfrm>
          <a:prstGeom prst="roundRect">
            <a:avLst>
              <a:gd name="adj" fmla="val 1290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70916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200 filas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93208" y="4709160"/>
            <a:ext cx="1078992" cy="566928"/>
          </a:xfrm>
          <a:prstGeom prst="roundRect">
            <a:avLst>
              <a:gd name="adj" fmla="val 12903"/>
            </a:avLst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93208" y="4709160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50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5440680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test es el examen final: el modelo no lo ve mientras aprende.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37960" y="1645920"/>
            <a:ext cx="5056632" cy="1325880"/>
          </a:xfrm>
          <a:prstGeom prst="roundRect">
            <a:avLst>
              <a:gd name="adj" fmla="val 3448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9128" y="1792224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test_size=0.20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39128" y="2103120"/>
            <a:ext cx="465429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el 20% para evaluar. El 80% restante se usa para entrenar.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37960" y="3154680"/>
            <a:ext cx="5056632" cy="1325880"/>
          </a:xfrm>
          <a:prstGeom prst="roundRect">
            <a:avLst>
              <a:gd name="adj" fmla="val 3448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39128" y="3300984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random_state=42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39128" y="3611880"/>
            <a:ext cx="465429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 el azar del reparto: si repetimos el script, sale exactamente lo mismo.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37960" y="4663440"/>
            <a:ext cx="5056632" cy="1325880"/>
          </a:xfrm>
          <a:prstGeom prst="roundRect">
            <a:avLst>
              <a:gd name="adj" fmla="val 3448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39128" y="4809744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stratify=y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39128" y="5120640"/>
            <a:ext cx="465429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Mantiene la misma proporción de abandonos en ambos grupos.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63825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de 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separamos ANTES de normalizar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leakage: el error que hace ver métricas hermosas y falsas.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486400" cy="502920"/>
          </a:xfrm>
          <a:prstGeom prst="roundRect">
            <a:avLst>
              <a:gd name="adj" fmla="val 10909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6916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33172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0B2A32"/>
          </a:solidFill>
          <a:ln w="12700">
            <a:solidFill>
              <a:srgbClr val="0B2A3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487168"/>
            <a:ext cx="100584" cy="1005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2487168"/>
            <a:ext cx="100584" cy="100584"/>
          </a:xfrm>
          <a:prstGeom prst="ellipse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" y="2487168"/>
            <a:ext cx="100584" cy="1005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715768"/>
            <a:ext cx="515721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fit_transform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#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(...)      #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ahora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46177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escalador ya vio los mínimos y máximos del test. Ese conjunto dejó de ser información nueva, y el resultado que medimos está inflado.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82512" y="169164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16916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82512" y="2331720"/>
            <a:ext cx="5212080" cy="2011680"/>
          </a:xfrm>
          <a:prstGeom prst="roundRect">
            <a:avLst>
              <a:gd name="adj" fmla="val 2727"/>
            </a:avLst>
          </a:prstGeom>
          <a:solidFill>
            <a:srgbClr val="0B2A32"/>
          </a:solidFill>
          <a:ln w="12700">
            <a:solidFill>
              <a:srgbClr val="0B2A3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65392" y="2487168"/>
            <a:ext cx="100584" cy="1005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48272" y="2487168"/>
            <a:ext cx="100584" cy="100584"/>
          </a:xfrm>
          <a:prstGeom prst="ellipse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31152" y="2487168"/>
            <a:ext cx="100584" cy="1005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47104" y="2715768"/>
            <a:ext cx="488289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(...)      #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primero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pipeline_ml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y_train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82512" y="461772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Pipeline aprende medianas, medias y categorías usando solo X_train. Al predecir sobre X_test aplica exactamente lo aprendido, sin volver a mirar.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6 · SimpleImputer()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los datos faltantes con una regla explícita, no a ojo.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035040" cy="1828800"/>
          </a:xfrm>
          <a:prstGeom prst="roundRect">
            <a:avLst>
              <a:gd name="adj" fmla="val 3000"/>
            </a:avLst>
          </a:prstGeom>
          <a:solidFill>
            <a:srgbClr val="0B2A32"/>
          </a:solidFill>
          <a:ln w="12700">
            <a:solidFill>
              <a:srgbClr val="0B2A3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47088"/>
            <a:ext cx="100584" cy="1005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847088"/>
            <a:ext cx="100584" cy="100584"/>
          </a:xfrm>
          <a:prstGeom prst="ellipse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847088"/>
            <a:ext cx="100584" cy="1005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75688"/>
            <a:ext cx="570585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SimpleImputer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"median"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#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ricas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SimpleImputer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"most_frequent"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#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ó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ricas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3794760"/>
            <a:ext cx="2926080" cy="2011680"/>
          </a:xfrm>
          <a:prstGeom prst="roundRect">
            <a:avLst>
              <a:gd name="adj" fmla="val 2273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941064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strategy="median"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8096" y="4251960"/>
            <a:ext cx="252374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Rellena con la mediana de la columna. Resiste mejor los valores extremos que el promedio.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49040" y="3794760"/>
            <a:ext cx="2834640" cy="2011680"/>
          </a:xfrm>
          <a:prstGeom prst="roundRect">
            <a:avLst>
              <a:gd name="adj" fmla="val 2273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50208" y="39410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strategy="most_frequent"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50208" y="4251960"/>
            <a:ext cx="243230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Rellena con la categoría más repetida. Es lo que hacemos con ciudad y canal.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03720" y="1691640"/>
            <a:ext cx="4690872" cy="4114800"/>
          </a:xfrm>
          <a:prstGeom prst="roundRect">
            <a:avLst>
              <a:gd name="adj" fmla="val 1111"/>
            </a:avLst>
          </a:prstGeom>
          <a:solidFill>
            <a:srgbClr val="0C3A44"/>
          </a:solidFill>
          <a:ln w="12700">
            <a:solidFill>
              <a:srgbClr val="0C3A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804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Faltantes en nuestros datos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78040" y="2468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32720" y="246888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78040" y="307238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ciudad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332720" y="3072384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78040" y="36758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canal_preferido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332720" y="367588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8040" y="42793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gasto_total_6m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332720" y="4279392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78040" y="488289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dias_desde_ultima_compra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332720" y="4882896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6928" y="59436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mediana se calcula solo con X_train.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63825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 de 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Escalar números, traducir texto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solo entiende números, y en escalas comparables.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94960" cy="1783080"/>
          </a:xfrm>
          <a:prstGeom prst="roundRect">
            <a:avLst>
              <a:gd name="adj" fmla="val 3077"/>
            </a:avLst>
          </a:prstGeom>
          <a:solidFill>
            <a:srgbClr val="0B2A32"/>
          </a:solidFill>
          <a:ln w="12700">
            <a:solidFill>
              <a:srgbClr val="0B2A3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47088"/>
            <a:ext cx="100584" cy="1005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847088"/>
            <a:ext cx="100584" cy="100584"/>
          </a:xfrm>
          <a:prstGeom prst="ellipse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847088"/>
            <a:ext cx="100584" cy="1005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75688"/>
            <a:ext cx="506577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OneHotEncoder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handle_unknown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"ignore"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3794760"/>
            <a:ext cx="5394960" cy="2057400"/>
          </a:xfrm>
          <a:prstGeom prst="roundRect">
            <a:avLst>
              <a:gd name="adj" fmla="val 2222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de escala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95528" y="4407408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gasto_total_6m ≈ 1.605.212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reclamos_ultimos_6m = 1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más grandes no significan más importantes. Escalar pone a todas las variables a competir en igualdad.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5330952" cy="1600200"/>
          </a:xfrm>
          <a:prstGeom prst="roundRect">
            <a:avLst>
              <a:gd name="adj" fmla="val 2857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4808" y="1837944"/>
            <a:ext cx="4928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StandardScaler()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64808" y="2148840"/>
            <a:ext cx="49286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 cada variable en 0 con desviación 1. Alternativa: MinMaxScaler, que lleva todo al rango 0-1.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3520440"/>
            <a:ext cx="5330952" cy="1371600"/>
          </a:xfrm>
          <a:prstGeom prst="roundRect">
            <a:avLst>
              <a:gd name="adj" fmla="val 3333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4808" y="3666744"/>
            <a:ext cx="4928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OneHotEncoder()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64808" y="3977640"/>
            <a:ext cx="49286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"TIENDA", "WEB", "WHATSAPP" en tres columnas de 0 y 1.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5074920"/>
            <a:ext cx="5330952" cy="1143000"/>
          </a:xfrm>
          <a:prstGeom prst="roundRect">
            <a:avLst>
              <a:gd name="adj" fmla="val 4000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5221224"/>
            <a:ext cx="4928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handle_unknown="ignore"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64808" y="5532120"/>
            <a:ext cx="49286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mañana aparece una ciudad nueva, no rompe: la codifica en ceros.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63825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 de 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Pipeline() · una receta de pasos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Encadena transformaciones para que siempre se apliquen en el mismo orden.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989320" cy="2514600"/>
          </a:xfrm>
          <a:prstGeom prst="roundRect">
            <a:avLst>
              <a:gd name="adj" fmla="val 2182"/>
            </a:avLst>
          </a:prstGeom>
          <a:solidFill>
            <a:srgbClr val="0B2A32"/>
          </a:solidFill>
          <a:ln w="12700">
            <a:solidFill>
              <a:srgbClr val="0B2A3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47088"/>
            <a:ext cx="100584" cy="1005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847088"/>
            <a:ext cx="100584" cy="100584"/>
          </a:xfrm>
          <a:prstGeom prst="ellipse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847088"/>
            <a:ext cx="100584" cy="1005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75688"/>
            <a:ext cx="5660136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pipeline_numerico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=[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"imputacion"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SimpleImputer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"median"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"normalizacion"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4480560"/>
            <a:ext cx="5989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es una lista de pares (nombre, herramienta). El nombre es solo una etiqueta para poder referirse al paso después.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949440" y="1737360"/>
            <a:ext cx="4645152" cy="749808"/>
          </a:xfrm>
          <a:prstGeom prst="roundRect">
            <a:avLst>
              <a:gd name="adj" fmla="val 7317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1737360"/>
            <a:ext cx="4645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crudos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49440" y="2487168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0" y="2871216"/>
            <a:ext cx="4645152" cy="749808"/>
          </a:xfrm>
          <a:prstGeom prst="roundRect">
            <a:avLst>
              <a:gd name="adj" fmla="val 7317"/>
            </a:avLst>
          </a:prstGeom>
          <a:solidFill>
            <a:srgbClr val="D6E9E9"/>
          </a:solidFill>
          <a:ln w="12700">
            <a:solidFill>
              <a:srgbClr val="D6E9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2871216"/>
            <a:ext cx="4645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Imputar faltantes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49440" y="3621024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4005072"/>
            <a:ext cx="4645152" cy="749808"/>
          </a:xfrm>
          <a:prstGeom prst="roundRect">
            <a:avLst>
              <a:gd name="adj" fmla="val 7317"/>
            </a:avLst>
          </a:prstGeom>
          <a:solidFill>
            <a:srgbClr val="A9D6D4"/>
          </a:solidFill>
          <a:ln w="12700">
            <a:solidFill>
              <a:srgbClr val="A9D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4005072"/>
            <a:ext cx="4645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49440" y="4754880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49440" y="5138928"/>
            <a:ext cx="4645152" cy="749808"/>
          </a:xfrm>
          <a:prstGeom prst="roundRect">
            <a:avLst>
              <a:gd name="adj" fmla="val 731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5138928"/>
            <a:ext cx="4645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el modelo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66928" y="562356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Ventaja: lo que se aprende en train se reaplica solo sobre datos nuevos.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" y="63825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 de 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ColumnTransformer() · un trato distinto por tipo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columnas numéricas y las de texto no se preparan igual.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583680" cy="2651760"/>
          </a:xfrm>
          <a:prstGeom prst="roundRect">
            <a:avLst>
              <a:gd name="adj" fmla="val 2069"/>
            </a:avLst>
          </a:prstGeom>
          <a:solidFill>
            <a:srgbClr val="0B2A32"/>
          </a:solidFill>
          <a:ln w="12700">
            <a:solidFill>
              <a:srgbClr val="0B2A3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47088"/>
            <a:ext cx="100584" cy="1005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847088"/>
            <a:ext cx="100584" cy="100584"/>
          </a:xfrm>
          <a:prstGeom prst="ellipse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847088"/>
            <a:ext cx="100584" cy="1005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75688"/>
            <a:ext cx="625449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preprocesador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ColumnTransformer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transformers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=[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"numericas"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pipeline_numerico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columnas_numericas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"categoricas"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pipeline_categorico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columnas_categoricas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45720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entrada dice: nombre, qué receta aplicar y sobre qué columnas aplicarla.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5120640"/>
            <a:ext cx="3200400" cy="1143000"/>
          </a:xfrm>
          <a:prstGeom prst="roundRect">
            <a:avLst>
              <a:gd name="adj" fmla="val 4000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5257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numéricas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55504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edad, antigüedad, compras, gasto, días, reclamos, descuento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50208" y="5120640"/>
            <a:ext cx="3200400" cy="1143000"/>
          </a:xfrm>
          <a:prstGeom prst="roundRect">
            <a:avLst>
              <a:gd name="adj" fmla="val 4000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5257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categóricas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33088" y="55504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género, ciudad, canal preferido, segmento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52360" y="1691640"/>
            <a:ext cx="4142232" cy="4572000"/>
          </a:xfrm>
          <a:prstGeom prst="roundRect">
            <a:avLst>
              <a:gd name="adj" fmla="val 1104"/>
            </a:avLst>
          </a:prstGeom>
          <a:solidFill>
            <a:srgbClr val="0C3A44"/>
          </a:solidFill>
          <a:ln w="12700">
            <a:solidFill>
              <a:srgbClr val="0C3A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19202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vs ColumnTransformer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680960" y="274320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BF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en secuencia: primero esto, después aquello.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ColumnTransformer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BF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en paralelo: a estas columnas esta receta, a aquellas otra.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 de 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7 · LogisticRegression()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clasificador: convierte las señales del cliente en una probabilidad.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943600" cy="3063240"/>
          </a:xfrm>
          <a:prstGeom prst="roundRect">
            <a:avLst>
              <a:gd name="adj" fmla="val 1791"/>
            </a:avLst>
          </a:prstGeom>
          <a:solidFill>
            <a:srgbClr val="0B2A32"/>
          </a:solidFill>
          <a:ln w="12700">
            <a:solidFill>
              <a:srgbClr val="0B2A3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47088"/>
            <a:ext cx="100584" cy="1005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847088"/>
            <a:ext cx="100584" cy="100584"/>
          </a:xfrm>
          <a:prstGeom prst="ellipse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847088"/>
            <a:ext cx="100584" cy="1005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75688"/>
            <a:ext cx="5614416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LogisticRegression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max_iter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pipeline_ml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=[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"preprocesamiento"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preprocesador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"modelo"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50292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pipeline final junta todo: preparar los datos y clasificar quedan en un solo objeto.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75120" y="1691640"/>
            <a:ext cx="4919472" cy="1417320"/>
          </a:xfrm>
          <a:prstGeom prst="roundRect">
            <a:avLst>
              <a:gd name="adj" fmla="val 3226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6288" y="1837944"/>
            <a:ext cx="4517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¿Por qué regresión logística?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76288" y="2148840"/>
            <a:ext cx="451713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una probabilidad entre 0 y 1, no solo un sí/no. Y se puede explicar al gerente.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75120" y="3291840"/>
            <a:ext cx="4919472" cy="1234440"/>
          </a:xfrm>
          <a:prstGeom prst="roundRect">
            <a:avLst>
              <a:gd name="adj" fmla="val 3704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76288" y="3438144"/>
            <a:ext cx="4517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max_iter=1000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76288" y="3749040"/>
            <a:ext cx="451713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Cuántos intentos tiene para encontrar la mejor combinación de pesos.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75120" y="4709160"/>
            <a:ext cx="4919472" cy="1371600"/>
          </a:xfrm>
          <a:prstGeom prst="roundRect">
            <a:avLst>
              <a:gd name="adj" fmla="val 3333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76288" y="4855464"/>
            <a:ext cx="4517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random_state=42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76288" y="5166360"/>
            <a:ext cx="4517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Vuelve reproducible el proceso: mismos datos, mismo resultado, siempre.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7 de 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2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tres verbos que hay que entender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scikit-learn se reduce a estos tres métodos.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2103120"/>
            <a:ext cx="3520440" cy="2743200"/>
          </a:xfrm>
          <a:prstGeom prst="roundRect">
            <a:avLst>
              <a:gd name="adj" fmla="val 2000"/>
            </a:avLst>
          </a:prstGeom>
          <a:solidFill>
            <a:srgbClr val="0C3A44"/>
          </a:solidFill>
          <a:ln w="12700">
            <a:solidFill>
              <a:srgbClr val="0C3A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31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.fit()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9077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319272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BF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X_train e y_train y ajusta las reglas internas. Es el único paso donde el modelo cambia.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06824" y="2103120"/>
            <a:ext cx="3520440" cy="2743200"/>
          </a:xfrm>
          <a:prstGeom prst="roundRect">
            <a:avLst>
              <a:gd name="adj" fmla="val 2000"/>
            </a:avLst>
          </a:prstGeom>
          <a:solidFill>
            <a:srgbClr val="0C3A44"/>
          </a:solidFill>
          <a:ln w="12700">
            <a:solidFill>
              <a:srgbClr val="0C3A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2856" y="2331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.predict()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62856" y="29077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62856" y="3319272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BF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0 o 1 aplicando el umbral de 50%. Es la respuesta final.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2103120"/>
            <a:ext cx="3520440" cy="2743200"/>
          </a:xfrm>
          <a:prstGeom prst="roundRect">
            <a:avLst>
              <a:gd name="adj" fmla="val 2000"/>
            </a:avLst>
          </a:prstGeom>
          <a:solidFill>
            <a:srgbClr val="0C3A44"/>
          </a:solidFill>
          <a:ln w="12700">
            <a:solidFill>
              <a:srgbClr val="0C3A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752" y="2331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.predict_proba()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302752" y="29077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RIESGO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02752" y="3319272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BF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la probabilidad. Sirve para priorizar clientes, no solo etiquetarlos.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" y="534924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 aprende  ·  transform aplica lo aprendido  ·  predict decide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8 · Evaluar sobre datos no vistos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métrica responde una pregunta distinta del negocio.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806440" cy="2286000"/>
          </a:xfrm>
          <a:prstGeom prst="roundRect">
            <a:avLst>
              <a:gd name="adj" fmla="val 2400"/>
            </a:avLst>
          </a:prstGeom>
          <a:solidFill>
            <a:srgbClr val="0B2A32"/>
          </a:solidFill>
          <a:ln w="12700">
            <a:solidFill>
              <a:srgbClr val="0B2A3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01368"/>
            <a:ext cx="100584" cy="1005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801368"/>
            <a:ext cx="100584" cy="100584"/>
          </a:xfrm>
          <a:prstGeom prst="ellipse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801368"/>
            <a:ext cx="100584" cy="1005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29968"/>
            <a:ext cx="547725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predicciones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pipeline_ml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X_test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accuracy_score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y_test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predicciones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recall_score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y_test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predicciones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4160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48840" y="4160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porcentaje del total acerté?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4709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48840" y="47091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digo "abandona", ¿cuántas veces acierto?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5257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48840" y="5257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todos los que abandonan, ¿a cuántos detecto?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5806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48840" y="58064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¿Están equilibradas precision y recall?</a:t>
            </a:r>
            <a:endParaRPr lang="en-US" sz="13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629400" y="1645920"/>
          <a:ext cx="4965192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566928" y="63825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8 de 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confusion_matrix() · dónde se equivoca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casilleros que explican cualquier clasificador.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120640" cy="1417320"/>
          </a:xfrm>
          <a:prstGeom prst="roundRect">
            <a:avLst>
              <a:gd name="adj" fmla="val 3871"/>
            </a:avLst>
          </a:prstGeom>
          <a:solidFill>
            <a:srgbClr val="0B2A32"/>
          </a:solidFill>
          <a:ln w="12700">
            <a:solidFill>
              <a:srgbClr val="0B2A3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01368"/>
            <a:ext cx="100584" cy="1005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801368"/>
            <a:ext cx="100584" cy="100584"/>
          </a:xfrm>
          <a:prstGeom prst="ellipse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801368"/>
            <a:ext cx="100584" cy="1005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29968"/>
            <a:ext cx="479145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confusion_matrix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y_test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predicciones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3429000"/>
            <a:ext cx="2423160" cy="1280160"/>
          </a:xfrm>
          <a:prstGeom prst="roundRect">
            <a:avLst>
              <a:gd name="adj" fmla="val 3571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538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49808" y="408736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Predije que sigue y sigue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3429000"/>
            <a:ext cx="2423160" cy="1280160"/>
          </a:xfrm>
          <a:prstGeom prst="roundRect">
            <a:avLst>
              <a:gd name="adj" fmla="val 3571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3538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A20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355848" y="408736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Predije que abandona y sigue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4846320"/>
            <a:ext cx="2423160" cy="1280160"/>
          </a:xfrm>
          <a:prstGeom prst="roundRect">
            <a:avLst>
              <a:gd name="adj" fmla="val 3571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95604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49808" y="550468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Predije que sigue y abandonó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72968" y="4846320"/>
            <a:ext cx="2423160" cy="1280160"/>
          </a:xfrm>
          <a:prstGeom prst="roundRect">
            <a:avLst>
              <a:gd name="adj" fmla="val 3571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495604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355848" y="550468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Predije que abandona y abandonó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1645920"/>
            <a:ext cx="5650992" cy="4480560"/>
          </a:xfrm>
          <a:prstGeom prst="roundRect">
            <a:avLst>
              <a:gd name="adj" fmla="val 1020"/>
            </a:avLst>
          </a:prstGeom>
          <a:solidFill>
            <a:srgbClr val="0C3A44"/>
          </a:solidFill>
          <a:ln w="12700">
            <a:solidFill>
              <a:srgbClr val="0C3A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874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error que más cuesta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17920" y="237744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falsos negativos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BF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que sí abandonaron y el modelo dejó pasar. Nadie los llamó. Se perdieron.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falsos positivos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BF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que iban a seguir comprando y recibieron una llamada de más. Cuesta tiempo, no un cliente.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perder un cliente es caro, priorizamos recall aunque baje la precisión.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probabilidad a acción comercial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np.select() convierte números en una lista de llamadas.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6263640" cy="2880360"/>
          </a:xfrm>
          <a:prstGeom prst="roundRect">
            <a:avLst>
              <a:gd name="adj" fmla="val 1905"/>
            </a:avLst>
          </a:prstGeom>
          <a:solidFill>
            <a:srgbClr val="0B2A32"/>
          </a:solidFill>
          <a:ln w="12700">
            <a:solidFill>
              <a:srgbClr val="0B2A3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01368"/>
            <a:ext cx="100584" cy="1005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801368"/>
            <a:ext cx="100584" cy="100584"/>
          </a:xfrm>
          <a:prstGeom prst="ellipse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801368"/>
            <a:ext cx="100584" cy="1005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29968"/>
            <a:ext cx="5934456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probabilidades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pipeline_ml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predict_proba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)[:,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"riesgo_predicho"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&gt;=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0.70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&gt;=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0.40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"ALTO"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"MEDIO"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"BAJO"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4709160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[:, 1] toma la segunda columna: la probabilidad de la clase 1, abandonar.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5257800"/>
            <a:ext cx="6263640" cy="914400"/>
          </a:xfrm>
          <a:prstGeom prst="roundRect">
            <a:avLst>
              <a:gd name="adj" fmla="val 6000"/>
            </a:avLst>
          </a:prstGeom>
          <a:solidFill>
            <a:srgbClr val="0B2A32"/>
          </a:solidFill>
          <a:ln w="12700">
            <a:solidFill>
              <a:srgbClr val="0B2A3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5413248"/>
            <a:ext cx="100584" cy="1005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688" y="5413248"/>
            <a:ext cx="100584" cy="100584"/>
          </a:xfrm>
          <a:prstGeom prst="ellipse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568" y="5413248"/>
            <a:ext cx="100584" cy="1005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5641848"/>
            <a:ext cx="5934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to_excel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"clientes_con_prediccion.xlsx"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95160" y="1691640"/>
            <a:ext cx="4599432" cy="1051560"/>
          </a:xfrm>
          <a:prstGeom prst="roundRect">
            <a:avLst>
              <a:gd name="adj" fmla="val 4348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05472" y="2029968"/>
            <a:ext cx="365760" cy="36576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99248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699248" y="2240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70%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0" y="169164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Contactar hoy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95160" y="2926080"/>
            <a:ext cx="4599432" cy="1051560"/>
          </a:xfrm>
          <a:prstGeom prst="roundRect">
            <a:avLst>
              <a:gd name="adj" fmla="val 4348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05472" y="3264408"/>
            <a:ext cx="365760" cy="365760"/>
          </a:xfrm>
          <a:prstGeom prst="ellipse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99248" y="3108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699248" y="3474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40% - 69%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0" y="29260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en campaña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995160" y="4160520"/>
            <a:ext cx="4599432" cy="1051560"/>
          </a:xfrm>
          <a:prstGeom prst="roundRect">
            <a:avLst>
              <a:gd name="adj" fmla="val 4348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05472" y="4498848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99248" y="4343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699248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40%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0" y="416052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normal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95160" y="5440680"/>
            <a:ext cx="4599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Excel de salida es lo que realmente recibe el equipo comercial.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Probar un cliente nuevo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pipeline completo se aplica solo: imputa, escala, codifica y predice.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6446520" cy="3657600"/>
          </a:xfrm>
          <a:prstGeom prst="roundRect">
            <a:avLst>
              <a:gd name="adj" fmla="val 1500"/>
            </a:avLst>
          </a:prstGeom>
          <a:solidFill>
            <a:srgbClr val="0B2A32"/>
          </a:solidFill>
          <a:ln w="12700">
            <a:solidFill>
              <a:srgbClr val="0B2A3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01368"/>
            <a:ext cx="100584" cy="1005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801368"/>
            <a:ext cx="100584" cy="100584"/>
          </a:xfrm>
          <a:prstGeom prst="ellipse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801368"/>
            <a:ext cx="100584" cy="1005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29968"/>
            <a:ext cx="6117336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cliente_nuevo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DataFrame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"edad"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"genero"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"M"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"ciudad"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"ÑEMBY"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"antiguedad_meses"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"compras_ultimos_6m"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"gasto_total_6m"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280000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"dias_desde_ultima_compra"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"canal_preferido"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"WHATSAPP"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"reclamos_ultimos_6m"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"descuento_promedio"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"segmento"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"BASICO"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pipeline_ml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predict_proba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cliente_nuevo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)[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5486400"/>
            <a:ext cx="6446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diccionario debe tener exactamente las mismas columnas que X, con los mismos nombres.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269480" y="1645920"/>
            <a:ext cx="4325112" cy="4480560"/>
          </a:xfrm>
          <a:prstGeom prst="roundRect">
            <a:avLst>
              <a:gd name="adj" fmla="val 1268"/>
            </a:avLst>
          </a:prstGeom>
          <a:solidFill>
            <a:srgbClr val="0C3A44"/>
          </a:solidFill>
          <a:ln w="12700">
            <a:solidFill>
              <a:srgbClr val="0C3A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4380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43800" y="228600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63,6%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7543800" y="3383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probabilidad de abandono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43800" y="4251960"/>
            <a:ext cx="3749040" cy="566928"/>
          </a:xfrm>
          <a:prstGeom prst="roundRect">
            <a:avLst>
              <a:gd name="adj" fmla="val 12903"/>
            </a:avLst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3800" y="425196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MEDIO · incluir en campaña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43800" y="50292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días sin comprar y 2 reclamos: el modelo lee esas señales.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Chuleta de comandos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script en una sola pantalla.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3520440" cy="667512"/>
          </a:xfrm>
          <a:prstGeom prst="roundRect">
            <a:avLst>
              <a:gd name="adj" fmla="val 5479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09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pd.read_excel()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993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 Excel como DataFrame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06824" y="1645920"/>
            <a:ext cx="3520440" cy="667512"/>
          </a:xfrm>
          <a:prstGeom prst="roundRect">
            <a:avLst>
              <a:gd name="adj" fmla="val 5479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71416" y="1709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.head() / .shape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71416" y="1993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vistazo y tamaño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520440" cy="667512"/>
          </a:xfrm>
          <a:prstGeom prst="roundRect">
            <a:avLst>
              <a:gd name="adj" fmla="val 5479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1312" y="1709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.isna().sum()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11312" y="1993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faltantes por columna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423160"/>
            <a:ext cx="3520440" cy="667512"/>
          </a:xfrm>
          <a:prstGeom prst="roundRect">
            <a:avLst>
              <a:gd name="adj" fmla="val 5479"/>
            </a:avLst>
          </a:prstGeom>
          <a:solidFill>
            <a:srgbClr val="E4EFEF"/>
          </a:solidFill>
          <a:ln w="12700">
            <a:solidFill>
              <a:srgbClr val="E4EF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487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.duplicated().sum()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770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filas repetidas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06824" y="2423160"/>
            <a:ext cx="3520440" cy="667512"/>
          </a:xfrm>
          <a:prstGeom prst="roundRect">
            <a:avLst>
              <a:gd name="adj" fmla="val 5479"/>
            </a:avLst>
          </a:prstGeom>
          <a:solidFill>
            <a:srgbClr val="E4EFEF"/>
          </a:solidFill>
          <a:ln w="12700">
            <a:solidFill>
              <a:srgbClr val="E4EF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71416" y="2487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.drop_duplicates()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71416" y="2770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esas repetidas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2423160"/>
            <a:ext cx="3520440" cy="667512"/>
          </a:xfrm>
          <a:prstGeom prst="roundRect">
            <a:avLst>
              <a:gd name="adj" fmla="val 5479"/>
            </a:avLst>
          </a:prstGeom>
          <a:solidFill>
            <a:srgbClr val="E4EFEF"/>
          </a:solidFill>
          <a:ln w="12700">
            <a:solidFill>
              <a:srgbClr val="E4EF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11312" y="2487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df.loc[cond, col]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11312" y="2770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 valores por condición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3200400"/>
            <a:ext cx="3520440" cy="667512"/>
          </a:xfrm>
          <a:prstGeom prst="roundRect">
            <a:avLst>
              <a:gd name="adj" fmla="val 5479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264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.drop(columns=[...])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3547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 X sin objetivo ni ID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06824" y="3200400"/>
            <a:ext cx="3520440" cy="667512"/>
          </a:xfrm>
          <a:prstGeom prst="roundRect">
            <a:avLst>
              <a:gd name="adj" fmla="val 5479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71416" y="3264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train_test_split()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71416" y="3547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en 80% train / 20% test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0" y="3200400"/>
            <a:ext cx="3520440" cy="667512"/>
          </a:xfrm>
          <a:prstGeom prst="roundRect">
            <a:avLst>
              <a:gd name="adj" fmla="val 5479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11312" y="3264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SimpleImputer()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11312" y="3547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Rellena faltantes con una regla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" y="3977640"/>
            <a:ext cx="3520440" cy="667512"/>
          </a:xfrm>
          <a:prstGeom prst="roundRect">
            <a:avLst>
              <a:gd name="adj" fmla="val 5479"/>
            </a:avLst>
          </a:prstGeom>
          <a:solidFill>
            <a:srgbClr val="E4EFEF"/>
          </a:solidFill>
          <a:ln w="12700">
            <a:solidFill>
              <a:srgbClr val="E4EF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0416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StandardScaler()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4325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 las escalas en igualdad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306824" y="3977640"/>
            <a:ext cx="3520440" cy="667512"/>
          </a:xfrm>
          <a:prstGeom prst="roundRect">
            <a:avLst>
              <a:gd name="adj" fmla="val 5479"/>
            </a:avLst>
          </a:prstGeom>
          <a:solidFill>
            <a:srgbClr val="E4EFEF"/>
          </a:solidFill>
          <a:ln w="12700">
            <a:solidFill>
              <a:srgbClr val="E4EF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71416" y="40416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OneHotEncoder()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471416" y="4325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texto en 0 y 1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46720" y="3977640"/>
            <a:ext cx="3520440" cy="667512"/>
          </a:xfrm>
          <a:prstGeom prst="roundRect">
            <a:avLst>
              <a:gd name="adj" fmla="val 5479"/>
            </a:avLst>
          </a:prstGeom>
          <a:solidFill>
            <a:srgbClr val="E4EFEF"/>
          </a:solidFill>
          <a:ln w="12700">
            <a:solidFill>
              <a:srgbClr val="E4EF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11312" y="40416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ColumnTransformer()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11312" y="4325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 distinta por tipo de columna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66928" y="4754880"/>
            <a:ext cx="3520440" cy="667512"/>
          </a:xfrm>
          <a:prstGeom prst="roundRect">
            <a:avLst>
              <a:gd name="adj" fmla="val 5479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4818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Pipeline()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31520" y="51023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Encadena pasos en orden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306824" y="4754880"/>
            <a:ext cx="3520440" cy="667512"/>
          </a:xfrm>
          <a:prstGeom prst="roundRect">
            <a:avLst>
              <a:gd name="adj" fmla="val 5479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71416" y="4818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LogisticRegression()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471416" y="51023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clasificador que da probabilidad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046720" y="4754880"/>
            <a:ext cx="3520440" cy="667512"/>
          </a:xfrm>
          <a:prstGeom prst="roundRect">
            <a:avLst>
              <a:gd name="adj" fmla="val 5479"/>
            </a:avLst>
          </a:prstGeom>
          <a:solidFill>
            <a:srgbClr val="EEF5F5"/>
          </a:solidFill>
          <a:ln w="12700">
            <a:solidFill>
              <a:srgbClr val="EEF5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11312" y="4818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.fit()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211312" y="51023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con los datos de train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66928" y="5532120"/>
            <a:ext cx="3520440" cy="667512"/>
          </a:xfrm>
          <a:prstGeom prst="roundRect">
            <a:avLst>
              <a:gd name="adj" fmla="val 5479"/>
            </a:avLst>
          </a:prstGeom>
          <a:solidFill>
            <a:srgbClr val="E4EFEF"/>
          </a:solidFill>
          <a:ln w="12700">
            <a:solidFill>
              <a:srgbClr val="E4EF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1520" y="5596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.predict()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31520" y="5879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0 o 1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306824" y="5532120"/>
            <a:ext cx="3520440" cy="667512"/>
          </a:xfrm>
          <a:prstGeom prst="roundRect">
            <a:avLst>
              <a:gd name="adj" fmla="val 5479"/>
            </a:avLst>
          </a:prstGeom>
          <a:solidFill>
            <a:srgbClr val="E4EFEF"/>
          </a:solidFill>
          <a:ln w="12700">
            <a:solidFill>
              <a:srgbClr val="E4EF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71416" y="5596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.predict_proba()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471416" y="5879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la probabilidad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046720" y="5532120"/>
            <a:ext cx="3520440" cy="667512"/>
          </a:xfrm>
          <a:prstGeom prst="roundRect">
            <a:avLst>
              <a:gd name="adj" fmla="val 5479"/>
            </a:avLst>
          </a:prstGeom>
          <a:solidFill>
            <a:srgbClr val="E4EFEF"/>
          </a:solidFill>
          <a:ln w="12700">
            <a:solidFill>
              <a:srgbClr val="E4EF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11312" y="5596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confusion_matrix()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211312" y="5879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aciertos y errores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66928" y="63825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Guardá esta lámina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62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0C3A44"/>
          </a:solidFill>
          <a:ln w="12700">
            <a:solidFill>
              <a:srgbClr val="0C3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Ahora les toca a ustedes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Modificá el script y observá qué cambia en las métricas.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112264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205740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Cambiá test_size de 0.20 a 0.30 y compará las métricas.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2889504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83464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Sacá .drop_duplicates() y mirá si el resultado se mueve.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3666744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361188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Reemplazá StandardScaler() por MinMaxScaler().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6928" y="4443984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43891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Probá RandomForestClassifier() en lugar de la regresión logística.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6928" y="5221224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5221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516636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Bajá el umbral de riesgo ALTO de 0.70 a 0.55 y contá cuántos clientes entran.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6928" y="5623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buen proyecto no empieza eligiendo el algoritmo: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empieza preguntando qué problema queremos resolver.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desde un Excel - Comandos de Python</dc:title>
  <dc:subject>PptxGenJS Presentation</dc:subject>
  <dc:creator>Clase de Machine Learning</dc:creator>
  <cp:lastModifiedBy>Clase de Machine Learning</cp:lastModifiedBy>
  <cp:revision>1</cp:revision>
  <dcterms:created xsi:type="dcterms:W3CDTF">2026-08-13T20:50:02Z</dcterms:created>
  <dcterms:modified xsi:type="dcterms:W3CDTF">2026-08-13T20:50:02Z</dcterms:modified>
</cp:coreProperties>
</file>